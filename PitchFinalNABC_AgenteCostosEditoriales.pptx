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2" r:id="rId6"/>
    <p:sldId id="264" r:id="rId7"/>
    <p:sldId id="265" r:id="rId8"/>
    <p:sldId id="26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016"/>
    <p:restoredTop sz="80000"/>
  </p:normalViewPr>
  <p:slideViewPr>
    <p:cSldViewPr snapToGrid="0" snapToObjects="1">
      <p:cViewPr varScale="1">
        <p:scale>
          <a:sx n="101" d="100"/>
          <a:sy n="101" d="100"/>
        </p:scale>
        <p:origin x="2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3820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Apertura (15 s): “Hoy, el </a:t>
            </a:r>
            <a:r>
              <a:rPr dirty="0" err="1"/>
              <a:t>analista</a:t>
            </a:r>
            <a:r>
              <a:rPr dirty="0"/>
              <a:t> de </a:t>
            </a:r>
            <a:r>
              <a:rPr dirty="0" err="1"/>
              <a:t>costos</a:t>
            </a:r>
            <a:r>
              <a:rPr dirty="0"/>
              <a:t> y </a:t>
            </a:r>
            <a:r>
              <a:rPr dirty="0" err="1"/>
              <a:t>gastos</a:t>
            </a:r>
            <a:r>
              <a:rPr dirty="0"/>
              <a:t> de la editorial </a:t>
            </a:r>
            <a:r>
              <a:rPr dirty="0" err="1"/>
              <a:t>consolida</a:t>
            </a:r>
            <a:r>
              <a:rPr dirty="0"/>
              <a:t> a mano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 para </a:t>
            </a:r>
            <a:r>
              <a:rPr dirty="0" err="1"/>
              <a:t>poder</a:t>
            </a:r>
            <a:r>
              <a:rPr dirty="0"/>
              <a:t> </a:t>
            </a:r>
            <a:r>
              <a:rPr dirty="0" err="1"/>
              <a:t>fijar</a:t>
            </a:r>
            <a:r>
              <a:rPr dirty="0"/>
              <a:t> el </a:t>
            </a:r>
            <a:r>
              <a:rPr dirty="0" err="1"/>
              <a:t>precio</a:t>
            </a:r>
            <a:r>
              <a:rPr dirty="0"/>
              <a:t> de un </a:t>
            </a:r>
            <a:r>
              <a:rPr dirty="0" err="1"/>
              <a:t>libro</a:t>
            </a:r>
            <a:r>
              <a:rPr dirty="0"/>
              <a:t>. Ese </a:t>
            </a:r>
            <a:r>
              <a:rPr dirty="0" err="1"/>
              <a:t>proceso</a:t>
            </a:r>
            <a:r>
              <a:rPr dirty="0"/>
              <a:t> es lento y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omitir</a:t>
            </a:r>
            <a:r>
              <a:rPr dirty="0"/>
              <a:t> </a:t>
            </a:r>
            <a:r>
              <a:rPr dirty="0" err="1"/>
              <a:t>gastos</a:t>
            </a:r>
            <a:r>
              <a:rPr dirty="0"/>
              <a:t>. </a:t>
            </a:r>
            <a:r>
              <a:rPr dirty="0" err="1"/>
              <a:t>Construimos</a:t>
            </a:r>
            <a:r>
              <a:rPr dirty="0"/>
              <a:t> un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lo </a:t>
            </a:r>
            <a:r>
              <a:rPr dirty="0" err="1"/>
              <a:t>hace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segundos</a:t>
            </a:r>
            <a:r>
              <a:rPr dirty="0"/>
              <a:t>, con </a:t>
            </a:r>
            <a:r>
              <a:rPr dirty="0" err="1"/>
              <a:t>evidencia</a:t>
            </a:r>
            <a:r>
              <a:rPr dirty="0"/>
              <a:t> y </a:t>
            </a:r>
            <a:r>
              <a:rPr dirty="0" err="1"/>
              <a:t>trazabilidad</a:t>
            </a:r>
            <a:r>
              <a:rPr dirty="0"/>
              <a:t>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Need (35 s): </a:t>
            </a:r>
            <a:r>
              <a:rPr dirty="0" err="1"/>
              <a:t>Describir</a:t>
            </a:r>
            <a:r>
              <a:rPr dirty="0"/>
              <a:t> el </a:t>
            </a:r>
            <a:r>
              <a:rPr dirty="0" err="1"/>
              <a:t>proceso</a:t>
            </a:r>
            <a:r>
              <a:rPr dirty="0"/>
              <a:t> actual: al </a:t>
            </a:r>
            <a:r>
              <a:rPr dirty="0" err="1"/>
              <a:t>cierre</a:t>
            </a:r>
            <a:r>
              <a:rPr dirty="0"/>
              <a:t> del </a:t>
            </a:r>
            <a:r>
              <a:rPr dirty="0" err="1"/>
              <a:t>registro</a:t>
            </a:r>
            <a:r>
              <a:rPr dirty="0"/>
              <a:t> de </a:t>
            </a:r>
            <a:r>
              <a:rPr dirty="0" err="1"/>
              <a:t>costos</a:t>
            </a:r>
            <a:r>
              <a:rPr dirty="0"/>
              <a:t>, </a:t>
            </a:r>
            <a:r>
              <a:rPr dirty="0" err="1"/>
              <a:t>contabilidad</a:t>
            </a:r>
            <a:r>
              <a:rPr dirty="0"/>
              <a:t> </a:t>
            </a:r>
            <a:r>
              <a:rPr dirty="0" err="1"/>
              <a:t>revisa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gastos</a:t>
            </a:r>
            <a:r>
              <a:rPr dirty="0"/>
              <a:t> y el </a:t>
            </a:r>
            <a:r>
              <a:rPr dirty="0" err="1"/>
              <a:t>analista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consolida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Excel. No se </a:t>
            </a:r>
            <a:r>
              <a:rPr dirty="0" err="1"/>
              <a:t>trata</a:t>
            </a:r>
            <a:r>
              <a:rPr dirty="0"/>
              <a:t> solo de </a:t>
            </a:r>
            <a:r>
              <a:rPr dirty="0" err="1"/>
              <a:t>lentitud</a:t>
            </a:r>
            <a:r>
              <a:rPr dirty="0"/>
              <a:t>: se </a:t>
            </a:r>
            <a:r>
              <a:rPr dirty="0" err="1"/>
              <a:t>trata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de </a:t>
            </a:r>
            <a:r>
              <a:rPr dirty="0" err="1"/>
              <a:t>omitir</a:t>
            </a:r>
            <a:r>
              <a:rPr dirty="0"/>
              <a:t> </a:t>
            </a:r>
            <a:r>
              <a:rPr dirty="0" err="1"/>
              <a:t>gastos</a:t>
            </a:r>
            <a:r>
              <a:rPr dirty="0"/>
              <a:t> y de no </a:t>
            </a:r>
            <a:r>
              <a:rPr dirty="0" err="1"/>
              <a:t>poder</a:t>
            </a:r>
            <a:r>
              <a:rPr dirty="0"/>
              <a:t> </a:t>
            </a:r>
            <a:r>
              <a:rPr dirty="0" err="1"/>
              <a:t>auditar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se </a:t>
            </a:r>
            <a:r>
              <a:rPr dirty="0" err="1"/>
              <a:t>llegó</a:t>
            </a:r>
            <a:r>
              <a:rPr dirty="0"/>
              <a:t> al </a:t>
            </a:r>
            <a:r>
              <a:rPr dirty="0" err="1"/>
              <a:t>precio</a:t>
            </a:r>
            <a:r>
              <a:rPr dirty="0"/>
              <a:t>. El </a:t>
            </a:r>
            <a:r>
              <a:rPr dirty="0" err="1"/>
              <a:t>problema</a:t>
            </a:r>
            <a:r>
              <a:rPr dirty="0"/>
              <a:t> </a:t>
            </a:r>
            <a:r>
              <a:rPr dirty="0" err="1"/>
              <a:t>existe</a:t>
            </a:r>
            <a:r>
              <a:rPr dirty="0"/>
              <a:t> </a:t>
            </a:r>
            <a:r>
              <a:rPr dirty="0" err="1"/>
              <a:t>aunque</a:t>
            </a:r>
            <a:r>
              <a:rPr dirty="0"/>
              <a:t> la IA no </a:t>
            </a:r>
            <a:r>
              <a:rPr dirty="0" err="1"/>
              <a:t>exista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Need – </a:t>
            </a:r>
            <a:r>
              <a:rPr dirty="0" err="1"/>
              <a:t>evidencia</a:t>
            </a:r>
            <a:r>
              <a:rPr dirty="0"/>
              <a:t> (30 s): </a:t>
            </a:r>
            <a:r>
              <a:rPr dirty="0" err="1"/>
              <a:t>Mostrar</a:t>
            </a:r>
            <a:r>
              <a:rPr dirty="0"/>
              <a:t> el </a:t>
            </a:r>
            <a:r>
              <a:rPr dirty="0" err="1"/>
              <a:t>alcance</a:t>
            </a:r>
            <a:r>
              <a:rPr dirty="0"/>
              <a:t> del PoC: 4 </a:t>
            </a:r>
            <a:r>
              <a:rPr dirty="0" err="1"/>
              <a:t>proyectos</a:t>
            </a:r>
            <a:r>
              <a:rPr dirty="0"/>
              <a:t> </a:t>
            </a:r>
            <a:r>
              <a:rPr dirty="0" err="1"/>
              <a:t>editoriales</a:t>
            </a:r>
            <a:r>
              <a:rPr dirty="0"/>
              <a:t> y 20 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prueba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replican</a:t>
            </a:r>
            <a:r>
              <a:rPr dirty="0"/>
              <a:t> la </a:t>
            </a:r>
            <a:r>
              <a:rPr dirty="0" err="1"/>
              <a:t>estructura</a:t>
            </a:r>
            <a:r>
              <a:rPr dirty="0"/>
              <a:t> real (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gasto</a:t>
            </a:r>
            <a:r>
              <a:rPr dirty="0"/>
              <a:t>, </a:t>
            </a:r>
            <a:r>
              <a:rPr dirty="0" err="1"/>
              <a:t>proveedor</a:t>
            </a:r>
            <a:r>
              <a:rPr dirty="0"/>
              <a:t>, </a:t>
            </a:r>
            <a:r>
              <a:rPr dirty="0" err="1"/>
              <a:t>moneda</a:t>
            </a:r>
            <a:r>
              <a:rPr dirty="0"/>
              <a:t>). </a:t>
            </a:r>
            <a:r>
              <a:rPr dirty="0" err="1"/>
              <a:t>Señalar</a:t>
            </a:r>
            <a:r>
              <a:rPr dirty="0"/>
              <a:t> el </a:t>
            </a:r>
            <a:r>
              <a:rPr dirty="0" err="1"/>
              <a:t>caso</a:t>
            </a:r>
            <a:r>
              <a:rPr dirty="0"/>
              <a:t> 3232-0004: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cantidades</a:t>
            </a:r>
            <a:r>
              <a:rPr dirty="0"/>
              <a:t> </a:t>
            </a:r>
            <a:r>
              <a:rPr dirty="0" err="1"/>
              <a:t>inconsistentes</a:t>
            </a:r>
            <a:r>
              <a:rPr dirty="0"/>
              <a:t> y el </a:t>
            </a:r>
            <a:r>
              <a:rPr dirty="0" err="1"/>
              <a:t>sistema</a:t>
            </a:r>
            <a:r>
              <a:rPr dirty="0"/>
              <a:t> lo </a:t>
            </a:r>
            <a:r>
              <a:rPr dirty="0" err="1"/>
              <a:t>detecta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 de </a:t>
            </a:r>
            <a:r>
              <a:rPr dirty="0" err="1"/>
              <a:t>ocultarlo</a:t>
            </a:r>
            <a:r>
              <a:rPr dirty="0"/>
              <a:t>. </a:t>
            </a:r>
            <a:r>
              <a:rPr dirty="0" err="1"/>
              <a:t>Criterio</a:t>
            </a:r>
            <a:r>
              <a:rPr dirty="0"/>
              <a:t> de </a:t>
            </a:r>
            <a:r>
              <a:rPr dirty="0" err="1"/>
              <a:t>éxito</a:t>
            </a:r>
            <a:r>
              <a:rPr dirty="0"/>
              <a:t>: </a:t>
            </a:r>
            <a:r>
              <a:rPr dirty="0" err="1"/>
              <a:t>consolidar</a:t>
            </a:r>
            <a:r>
              <a:rPr dirty="0"/>
              <a:t> y </a:t>
            </a:r>
            <a:r>
              <a:rPr dirty="0" err="1"/>
              <a:t>proponer</a:t>
            </a:r>
            <a:r>
              <a:rPr dirty="0"/>
              <a:t> </a:t>
            </a:r>
            <a:r>
              <a:rPr dirty="0" err="1"/>
              <a:t>costo</a:t>
            </a:r>
            <a:r>
              <a:rPr dirty="0"/>
              <a:t>/</a:t>
            </a:r>
            <a:r>
              <a:rPr dirty="0" err="1"/>
              <a:t>precio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10 </a:t>
            </a:r>
            <a:r>
              <a:rPr dirty="0" err="1"/>
              <a:t>minutos</a:t>
            </a:r>
            <a:r>
              <a:rPr dirty="0"/>
              <a:t>, con </a:t>
            </a:r>
            <a:r>
              <a:rPr dirty="0" err="1"/>
              <a:t>registro</a:t>
            </a:r>
            <a:r>
              <a:rPr dirty="0"/>
              <a:t> </a:t>
            </a:r>
            <a:r>
              <a:rPr dirty="0" err="1"/>
              <a:t>trazable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Approach (40 s): “El </a:t>
            </a:r>
            <a:r>
              <a:rPr dirty="0" err="1"/>
              <a:t>analista</a:t>
            </a:r>
            <a:r>
              <a:rPr dirty="0"/>
              <a:t> </a:t>
            </a:r>
            <a:r>
              <a:rPr dirty="0" err="1"/>
              <a:t>hace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lenguaje</a:t>
            </a:r>
            <a:r>
              <a:rPr dirty="0"/>
              <a:t> natural. El </a:t>
            </a:r>
            <a:r>
              <a:rPr dirty="0" err="1"/>
              <a:t>agente</a:t>
            </a:r>
            <a:r>
              <a:rPr dirty="0"/>
              <a:t> (Gemini 2.5 Flash </a:t>
            </a:r>
            <a:r>
              <a:rPr dirty="0" err="1"/>
              <a:t>orquestado</a:t>
            </a:r>
            <a:r>
              <a:rPr dirty="0"/>
              <a:t> con </a:t>
            </a:r>
            <a:r>
              <a:rPr dirty="0" err="1"/>
              <a:t>LangChain</a:t>
            </a:r>
            <a:r>
              <a:rPr dirty="0"/>
              <a:t>) </a:t>
            </a:r>
            <a:r>
              <a:rPr dirty="0" err="1"/>
              <a:t>interpreta</a:t>
            </a:r>
            <a:r>
              <a:rPr dirty="0"/>
              <a:t> la </a:t>
            </a:r>
            <a:r>
              <a:rPr dirty="0" err="1"/>
              <a:t>intención</a:t>
            </a:r>
            <a:r>
              <a:rPr dirty="0"/>
              <a:t> y </a:t>
            </a:r>
            <a:r>
              <a:rPr dirty="0" err="1"/>
              <a:t>elige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de las 13 tools MCP; </a:t>
            </a:r>
            <a:r>
              <a:rPr dirty="0" err="1"/>
              <a:t>cada</a:t>
            </a:r>
            <a:r>
              <a:rPr dirty="0"/>
              <a:t> tool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</a:t>
            </a:r>
            <a:r>
              <a:rPr dirty="0" err="1"/>
              <a:t>concreta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SQLite, no SQL libre. La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llega</a:t>
            </a:r>
            <a:r>
              <a:rPr dirty="0"/>
              <a:t> con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propuesto</a:t>
            </a:r>
            <a:r>
              <a:rPr dirty="0"/>
              <a:t>, </a:t>
            </a:r>
            <a:r>
              <a:rPr dirty="0" err="1"/>
              <a:t>precio</a:t>
            </a:r>
            <a:r>
              <a:rPr dirty="0"/>
              <a:t> </a:t>
            </a:r>
            <a:r>
              <a:rPr dirty="0" err="1"/>
              <a:t>sugerido</a:t>
            </a:r>
            <a:r>
              <a:rPr dirty="0"/>
              <a:t> con </a:t>
            </a:r>
            <a:r>
              <a:rPr dirty="0" err="1"/>
              <a:t>margen</a:t>
            </a:r>
            <a:r>
              <a:rPr dirty="0"/>
              <a:t> del 35%, score de confianza y campos </a:t>
            </a:r>
            <a:r>
              <a:rPr dirty="0" err="1"/>
              <a:t>dudosos</a:t>
            </a:r>
            <a:r>
              <a:rPr dirty="0"/>
              <a:t>. Si no hay </a:t>
            </a:r>
            <a:r>
              <a:rPr dirty="0" err="1"/>
              <a:t>evidencia</a:t>
            </a:r>
            <a:r>
              <a:rPr dirty="0"/>
              <a:t>, el </a:t>
            </a:r>
            <a:r>
              <a:rPr dirty="0" err="1"/>
              <a:t>agente</a:t>
            </a:r>
            <a:r>
              <a:rPr dirty="0"/>
              <a:t> lo dice; no </a:t>
            </a:r>
            <a:r>
              <a:rPr dirty="0" err="1"/>
              <a:t>inventa</a:t>
            </a:r>
            <a:r>
              <a:rPr dirty="0"/>
              <a:t>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Approach – </a:t>
            </a:r>
            <a:r>
              <a:rPr dirty="0" err="1"/>
              <a:t>arquitectura</a:t>
            </a:r>
            <a:r>
              <a:rPr dirty="0"/>
              <a:t> (45 s): </a:t>
            </a:r>
            <a:r>
              <a:rPr dirty="0" err="1"/>
              <a:t>Recorrer</a:t>
            </a:r>
            <a:r>
              <a:rPr dirty="0"/>
              <a:t> el </a:t>
            </a:r>
            <a:r>
              <a:rPr dirty="0" err="1"/>
              <a:t>flujo</a:t>
            </a:r>
            <a:r>
              <a:rPr dirty="0"/>
              <a:t>: CSV → SQLite (</a:t>
            </a:r>
            <a:r>
              <a:rPr dirty="0" err="1"/>
              <a:t>tabla</a:t>
            </a:r>
            <a:r>
              <a:rPr dirty="0"/>
              <a:t> </a:t>
            </a:r>
            <a:r>
              <a:rPr dirty="0" err="1"/>
              <a:t>gastos_proyecto</a:t>
            </a:r>
            <a:r>
              <a:rPr dirty="0"/>
              <a:t> + vista </a:t>
            </a:r>
            <a:r>
              <a:rPr dirty="0" err="1"/>
              <a:t>consolidada</a:t>
            </a:r>
            <a:r>
              <a:rPr dirty="0"/>
              <a:t> e </a:t>
            </a:r>
            <a:r>
              <a:rPr dirty="0" err="1"/>
              <a:t>índices</a:t>
            </a:r>
            <a:r>
              <a:rPr dirty="0"/>
              <a:t>) → </a:t>
            </a:r>
            <a:r>
              <a:rPr dirty="0" err="1"/>
              <a:t>servidor</a:t>
            </a:r>
            <a:r>
              <a:rPr dirty="0"/>
              <a:t> MCP local (</a:t>
            </a:r>
            <a:r>
              <a:rPr dirty="0" err="1"/>
              <a:t>FastMCP</a:t>
            </a:r>
            <a:r>
              <a:rPr dirty="0"/>
              <a:t>) </a:t>
            </a:r>
            <a:r>
              <a:rPr dirty="0" err="1"/>
              <a:t>que</a:t>
            </a:r>
            <a:r>
              <a:rPr dirty="0"/>
              <a:t> publica 13 tools de solo </a:t>
            </a:r>
            <a:r>
              <a:rPr dirty="0" err="1"/>
              <a:t>lectura</a:t>
            </a:r>
            <a:r>
              <a:rPr dirty="0"/>
              <a:t> →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LangChain</a:t>
            </a:r>
            <a:r>
              <a:rPr dirty="0"/>
              <a:t> con system prompt y </a:t>
            </a:r>
            <a:r>
              <a:rPr dirty="0" err="1"/>
              <a:t>reglas</a:t>
            </a:r>
            <a:r>
              <a:rPr dirty="0"/>
              <a:t> → notebook/playground. Cada </a:t>
            </a:r>
            <a:r>
              <a:rPr dirty="0" err="1"/>
              <a:t>cálculo</a:t>
            </a:r>
            <a:r>
              <a:rPr dirty="0"/>
              <a:t> escribe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logs_inferencia</a:t>
            </a:r>
            <a:r>
              <a:rPr dirty="0"/>
              <a:t> (id, timestamp, </a:t>
            </a:r>
            <a:r>
              <a:rPr dirty="0" err="1"/>
              <a:t>propuesta</a:t>
            </a:r>
            <a:r>
              <a:rPr dirty="0"/>
              <a:t>, score, </a:t>
            </a:r>
            <a:r>
              <a:rPr dirty="0" err="1"/>
              <a:t>latencia</a:t>
            </a:r>
            <a:r>
              <a:rPr dirty="0"/>
              <a:t>) y las corridas </a:t>
            </a:r>
            <a:r>
              <a:rPr dirty="0" err="1"/>
              <a:t>quedan</a:t>
            </a:r>
            <a:r>
              <a:rPr dirty="0"/>
              <a:t> </a:t>
            </a:r>
            <a:r>
              <a:rPr dirty="0" err="1"/>
              <a:t>trazadas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LangSmith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Benefits per Costs (45 s): </a:t>
            </a:r>
            <a:r>
              <a:rPr dirty="0" err="1"/>
              <a:t>Beneficio</a:t>
            </a:r>
            <a:r>
              <a:rPr dirty="0"/>
              <a:t> </a:t>
            </a:r>
            <a:r>
              <a:rPr dirty="0" err="1"/>
              <a:t>observado</a:t>
            </a:r>
            <a:r>
              <a:rPr dirty="0"/>
              <a:t>: la </a:t>
            </a:r>
            <a:r>
              <a:rPr dirty="0" err="1"/>
              <a:t>propuesta</a:t>
            </a:r>
            <a:r>
              <a:rPr dirty="0"/>
              <a:t> de </a:t>
            </a:r>
            <a:r>
              <a:rPr dirty="0" err="1"/>
              <a:t>costo</a:t>
            </a:r>
            <a:r>
              <a:rPr dirty="0"/>
              <a:t> y </a:t>
            </a:r>
            <a:r>
              <a:rPr dirty="0" err="1"/>
              <a:t>precio</a:t>
            </a:r>
            <a:r>
              <a:rPr dirty="0"/>
              <a:t> se </a:t>
            </a:r>
            <a:r>
              <a:rPr dirty="0" err="1"/>
              <a:t>obtiene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segundos</a:t>
            </a:r>
            <a:r>
              <a:rPr dirty="0"/>
              <a:t> y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registrada</a:t>
            </a:r>
            <a:r>
              <a:rPr dirty="0"/>
              <a:t>. Costo </a:t>
            </a:r>
            <a:r>
              <a:rPr dirty="0" err="1"/>
              <a:t>reconocido</a:t>
            </a:r>
            <a:r>
              <a:rPr dirty="0"/>
              <a:t>: </a:t>
            </a:r>
            <a:r>
              <a:rPr dirty="0" err="1"/>
              <a:t>consumo</a:t>
            </a:r>
            <a:r>
              <a:rPr dirty="0"/>
              <a:t> de API, </a:t>
            </a:r>
            <a:r>
              <a:rPr dirty="0" err="1"/>
              <a:t>mantener</a:t>
            </a:r>
            <a:r>
              <a:rPr dirty="0"/>
              <a:t> la </a:t>
            </a:r>
            <a:r>
              <a:rPr dirty="0" err="1"/>
              <a:t>fuente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 </a:t>
            </a:r>
            <a:r>
              <a:rPr dirty="0" err="1"/>
              <a:t>vigente</a:t>
            </a:r>
            <a:r>
              <a:rPr dirty="0"/>
              <a:t> y </a:t>
            </a:r>
            <a:r>
              <a:rPr dirty="0" err="1"/>
              <a:t>validación</a:t>
            </a:r>
            <a:r>
              <a:rPr dirty="0"/>
              <a:t> humana del </a:t>
            </a:r>
            <a:r>
              <a:rPr dirty="0" err="1"/>
              <a:t>precio</a:t>
            </a:r>
            <a:r>
              <a:rPr dirty="0"/>
              <a:t> final. </a:t>
            </a:r>
            <a:r>
              <a:rPr dirty="0" err="1"/>
              <a:t>Hipótesis</a:t>
            </a:r>
            <a:r>
              <a:rPr dirty="0"/>
              <a:t> a </a:t>
            </a:r>
            <a:r>
              <a:rPr dirty="0" err="1"/>
              <a:t>validar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siguiente</a:t>
            </a:r>
            <a:r>
              <a:rPr dirty="0"/>
              <a:t> </a:t>
            </a:r>
            <a:r>
              <a:rPr dirty="0" err="1"/>
              <a:t>etapa</a:t>
            </a:r>
            <a:r>
              <a:rPr dirty="0"/>
              <a:t>: </a:t>
            </a:r>
            <a:r>
              <a:rPr dirty="0" err="1"/>
              <a:t>medir</a:t>
            </a:r>
            <a:r>
              <a:rPr dirty="0"/>
              <a:t> </a:t>
            </a:r>
            <a:r>
              <a:rPr dirty="0" err="1"/>
              <a:t>línea</a:t>
            </a:r>
            <a:r>
              <a:rPr dirty="0"/>
              <a:t> base del </a:t>
            </a:r>
            <a:r>
              <a:rPr dirty="0" err="1"/>
              <a:t>proceso</a:t>
            </a:r>
            <a:r>
              <a:rPr dirty="0"/>
              <a:t> manual vs. </a:t>
            </a:r>
            <a:r>
              <a:rPr dirty="0" err="1"/>
              <a:t>tiempo</a:t>
            </a:r>
            <a:r>
              <a:rPr dirty="0"/>
              <a:t> con el </a:t>
            </a:r>
            <a:r>
              <a:rPr dirty="0" err="1"/>
              <a:t>agente</a:t>
            </a:r>
            <a:r>
              <a:rPr dirty="0"/>
              <a:t>, y </a:t>
            </a:r>
            <a:r>
              <a:rPr dirty="0" err="1"/>
              <a:t>tasa</a:t>
            </a:r>
            <a:r>
              <a:rPr dirty="0"/>
              <a:t> de </a:t>
            </a:r>
            <a:r>
              <a:rPr dirty="0" err="1"/>
              <a:t>aceptación</a:t>
            </a:r>
            <a:r>
              <a:rPr dirty="0"/>
              <a:t> del </a:t>
            </a:r>
            <a:r>
              <a:rPr dirty="0" err="1"/>
              <a:t>precio</a:t>
            </a:r>
            <a:r>
              <a:rPr dirty="0"/>
              <a:t> </a:t>
            </a:r>
            <a:r>
              <a:rPr dirty="0" err="1"/>
              <a:t>sugerido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Competence (35 s): </a:t>
            </a:r>
            <a:r>
              <a:rPr dirty="0" err="1"/>
              <a:t>Frente</a:t>
            </a:r>
            <a:r>
              <a:rPr dirty="0"/>
              <a:t> a la </a:t>
            </a:r>
            <a:r>
              <a:rPr dirty="0" err="1"/>
              <a:t>alternativa</a:t>
            </a:r>
            <a:r>
              <a:rPr dirty="0"/>
              <a:t> (Excel + </a:t>
            </a:r>
            <a:r>
              <a:rPr dirty="0" err="1"/>
              <a:t>revisión</a:t>
            </a:r>
            <a:r>
              <a:rPr dirty="0"/>
              <a:t> manual), el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responde</a:t>
            </a:r>
            <a:r>
              <a:rPr dirty="0"/>
              <a:t> al </a:t>
            </a:r>
            <a:r>
              <a:rPr dirty="0" err="1"/>
              <a:t>momento</a:t>
            </a:r>
            <a:r>
              <a:rPr dirty="0"/>
              <a:t> y </a:t>
            </a:r>
            <a:r>
              <a:rPr dirty="0" err="1"/>
              <a:t>deja</a:t>
            </a:r>
            <a:r>
              <a:rPr dirty="0"/>
              <a:t> </a:t>
            </a:r>
            <a:r>
              <a:rPr dirty="0" err="1"/>
              <a:t>evidencia</a:t>
            </a:r>
            <a:r>
              <a:rPr dirty="0"/>
              <a:t>. </a:t>
            </a:r>
            <a:r>
              <a:rPr dirty="0" err="1"/>
              <a:t>Reconocemos</a:t>
            </a:r>
            <a:r>
              <a:rPr dirty="0"/>
              <a:t> </a:t>
            </a:r>
            <a:r>
              <a:rPr dirty="0" err="1"/>
              <a:t>límites</a:t>
            </a:r>
            <a:r>
              <a:rPr dirty="0"/>
              <a:t>: dataset </a:t>
            </a:r>
            <a:r>
              <a:rPr dirty="0" err="1"/>
              <a:t>ficticio</a:t>
            </a:r>
            <a:r>
              <a:rPr dirty="0"/>
              <a:t>, </a:t>
            </a:r>
            <a:r>
              <a:rPr dirty="0" err="1"/>
              <a:t>margen</a:t>
            </a:r>
            <a:r>
              <a:rPr dirty="0"/>
              <a:t> </a:t>
            </a:r>
            <a:r>
              <a:rPr dirty="0" err="1"/>
              <a:t>fijo</a:t>
            </a:r>
            <a:r>
              <a:rPr dirty="0"/>
              <a:t> del 35% y </a:t>
            </a:r>
            <a:r>
              <a:rPr dirty="0" err="1"/>
              <a:t>decisión</a:t>
            </a:r>
            <a:r>
              <a:rPr dirty="0"/>
              <a:t> final humana. No </a:t>
            </a:r>
            <a:r>
              <a:rPr dirty="0" err="1"/>
              <a:t>afirmamos</a:t>
            </a:r>
            <a:r>
              <a:rPr dirty="0"/>
              <a:t> </a:t>
            </a:r>
            <a:r>
              <a:rPr dirty="0" err="1"/>
              <a:t>tener</a:t>
            </a:r>
            <a:r>
              <a:rPr dirty="0"/>
              <a:t> un </a:t>
            </a:r>
            <a:r>
              <a:rPr dirty="0" err="1"/>
              <a:t>producto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: </a:t>
            </a:r>
            <a:r>
              <a:rPr dirty="0" err="1"/>
              <a:t>demostramos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capacidad</a:t>
            </a:r>
            <a:r>
              <a:rPr dirty="0"/>
              <a:t> </a:t>
            </a:r>
            <a:r>
              <a:rPr dirty="0" err="1"/>
              <a:t>funcional</a:t>
            </a:r>
            <a:r>
              <a:rPr dirty="0"/>
              <a:t>, </a:t>
            </a:r>
            <a:r>
              <a:rPr dirty="0" err="1"/>
              <a:t>acotada</a:t>
            </a:r>
            <a:r>
              <a:rPr dirty="0"/>
              <a:t> y </a:t>
            </a:r>
            <a:r>
              <a:rPr dirty="0" err="1"/>
              <a:t>trazable</a:t>
            </a:r>
            <a:r>
              <a:rPr dirty="0"/>
              <a:t>, con un plan claro para </a:t>
            </a:r>
            <a:r>
              <a:rPr dirty="0" err="1"/>
              <a:t>validar</a:t>
            </a:r>
            <a:r>
              <a:rPr dirty="0"/>
              <a:t> con </a:t>
            </a:r>
            <a:r>
              <a:rPr dirty="0" err="1"/>
              <a:t>datos</a:t>
            </a:r>
            <a:r>
              <a:rPr dirty="0"/>
              <a:t>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Demo (1:30–2:00): Caso </a:t>
            </a:r>
            <a:r>
              <a:rPr dirty="0" err="1"/>
              <a:t>feliz</a:t>
            </a:r>
            <a:r>
              <a:rPr dirty="0"/>
              <a:t>: “</a:t>
            </a:r>
            <a:r>
              <a:rPr dirty="0" err="1"/>
              <a:t>Calcula</a:t>
            </a:r>
            <a:r>
              <a:rPr dirty="0"/>
              <a:t> el </a:t>
            </a:r>
            <a:r>
              <a:rPr dirty="0" err="1"/>
              <a:t>costo</a:t>
            </a:r>
            <a:r>
              <a:rPr dirty="0"/>
              <a:t> y </a:t>
            </a:r>
            <a:r>
              <a:rPr dirty="0" err="1"/>
              <a:t>precio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 3232-0001” → el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calcular_propuesta_costo_precio</a:t>
            </a:r>
            <a:r>
              <a:rPr dirty="0"/>
              <a:t> y </a:t>
            </a:r>
            <a:r>
              <a:rPr dirty="0" err="1"/>
              <a:t>devuelve</a:t>
            </a:r>
            <a:r>
              <a:rPr dirty="0"/>
              <a:t> </a:t>
            </a:r>
            <a:r>
              <a:rPr dirty="0" err="1"/>
              <a:t>propuesta</a:t>
            </a:r>
            <a:r>
              <a:rPr dirty="0"/>
              <a:t> con score </a:t>
            </a:r>
            <a:r>
              <a:rPr dirty="0" err="1"/>
              <a:t>alta.</a:t>
            </a:r>
            <a:r>
              <a:rPr dirty="0"/>
              <a:t> Caso </a:t>
            </a:r>
            <a:r>
              <a:rPr dirty="0" err="1"/>
              <a:t>límite</a:t>
            </a:r>
            <a:r>
              <a:rPr dirty="0"/>
              <a:t>: </a:t>
            </a:r>
            <a:r>
              <a:rPr dirty="0" err="1"/>
              <a:t>proyecto</a:t>
            </a:r>
            <a:r>
              <a:rPr dirty="0"/>
              <a:t> 3232-0004 → </a:t>
            </a:r>
            <a:r>
              <a:rPr dirty="0" err="1"/>
              <a:t>detecta</a:t>
            </a:r>
            <a:r>
              <a:rPr dirty="0"/>
              <a:t> </a:t>
            </a:r>
            <a:r>
              <a:rPr dirty="0" err="1"/>
              <a:t>cantidades</a:t>
            </a:r>
            <a:r>
              <a:rPr dirty="0"/>
              <a:t> </a:t>
            </a:r>
            <a:r>
              <a:rPr dirty="0" err="1"/>
              <a:t>inconsistentes</a:t>
            </a:r>
            <a:r>
              <a:rPr dirty="0"/>
              <a:t> y baja la confianza. Fuera de </a:t>
            </a:r>
            <a:r>
              <a:rPr dirty="0" err="1"/>
              <a:t>alcance</a:t>
            </a:r>
            <a:r>
              <a:rPr dirty="0"/>
              <a:t>: </a:t>
            </a:r>
            <a:r>
              <a:rPr dirty="0" err="1"/>
              <a:t>preguntar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un </a:t>
            </a:r>
            <a:r>
              <a:rPr dirty="0" err="1"/>
              <a:t>proyecto</a:t>
            </a:r>
            <a:r>
              <a:rPr dirty="0"/>
              <a:t> </a:t>
            </a:r>
            <a:r>
              <a:rPr dirty="0" err="1"/>
              <a:t>inexistente</a:t>
            </a:r>
            <a:r>
              <a:rPr dirty="0"/>
              <a:t> →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no lo </a:t>
            </a:r>
            <a:r>
              <a:rPr dirty="0" err="1"/>
              <a:t>encontró</a:t>
            </a:r>
            <a:r>
              <a:rPr dirty="0"/>
              <a:t>, sin </a:t>
            </a:r>
            <a:r>
              <a:rPr dirty="0" err="1"/>
              <a:t>inventar</a:t>
            </a:r>
            <a:r>
              <a:rPr dirty="0"/>
              <a:t>. Cierre: 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demuestra</a:t>
            </a:r>
            <a:r>
              <a:rPr dirty="0"/>
              <a:t> valor, </a:t>
            </a:r>
            <a:r>
              <a:rPr dirty="0" err="1"/>
              <a:t>trazabilidad</a:t>
            </a:r>
            <a:r>
              <a:rPr dirty="0"/>
              <a:t> y </a:t>
            </a:r>
            <a:r>
              <a:rPr dirty="0" err="1"/>
              <a:t>límites</a:t>
            </a:r>
            <a:r>
              <a:rPr dirty="0"/>
              <a:t>; </a:t>
            </a:r>
            <a:r>
              <a:rPr dirty="0" err="1"/>
              <a:t>siguiente</a:t>
            </a:r>
            <a:r>
              <a:rPr dirty="0"/>
              <a:t> paso, </a:t>
            </a:r>
            <a:r>
              <a:rPr dirty="0" err="1"/>
              <a:t>validar</a:t>
            </a:r>
            <a:r>
              <a:rPr dirty="0"/>
              <a:t> con </a:t>
            </a:r>
            <a:r>
              <a:rPr dirty="0" err="1"/>
              <a:t>datos</a:t>
            </a:r>
            <a:r>
              <a:rPr dirty="0"/>
              <a:t> reales y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interfaz</a:t>
            </a:r>
            <a:r>
              <a:rPr dirty="0"/>
              <a:t> </a:t>
            </a:r>
            <a:r>
              <a:rPr dirty="0" err="1"/>
              <a:t>Streamlit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high_resolution_modern_tech_presentation_batch_1.png"/>
          <p:cNvPicPr>
            <a:picLocks noChangeAspect="1"/>
          </p:cNvPicPr>
          <p:nvPr/>
        </p:nvPicPr>
        <p:blipFill>
          <a:blip r:embed="rId3"/>
          <a:srcRect l="26625" r="26625"/>
          <a:stretch/>
        </p:blipFill>
        <p:spPr>
          <a:xfrm>
            <a:off x="6492240" y="0"/>
            <a:ext cx="56967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1"/>
          <p:cNvSpPr/>
          <p:nvPr/>
        </p:nvSpPr>
        <p:spPr>
          <a:xfrm>
            <a:off x="594360" y="117043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02A43"/>
                </a:solidFill>
              </a:rPr>
              <a:t>Pitch Final de Proyecto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94360" y="184708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D7A"/>
                </a:solidFill>
              </a:rPr>
              <a:t>Pitch NABC + Demo funcional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21792" y="277977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F3A44"/>
                </a:solidFill>
              </a:rPr>
              <a:t>Agente Inteligente de Costos y Precios Editoriales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F3A44"/>
                </a:solidFill>
              </a:rPr>
              <a:t>Ismael Flamenco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F3A44"/>
                </a:solidFill>
              </a:rPr>
              <a:t>AI Project · Julio 2026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94360" y="4828032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EEF8F8"/>
          </a:solidFill>
          <a:ln w="6350">
            <a:solidFill>
              <a:srgbClr val="B6E3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740664" y="4956048"/>
            <a:ext cx="4690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07D7A"/>
                </a:solidFill>
              </a:rPr>
              <a:t>Del cierre de costos al precio sugerido en segundos: consolidación automática, evidencia y trazabilidad.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F6B76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Need 1/2 · Necesidad que justifica el proyecto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Fijar el precio de un material editorial depende hoy de consolidar a mano los gastos de producción.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01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32588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D7A"/>
                </a:solidFill>
              </a:rPr>
              <a:t>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325880" y="1426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A43"/>
                </a:solidFill>
              </a:rPr>
              <a:t>Necesidad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1975104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F3A44"/>
                </a:solidFill>
              </a:rPr>
              <a:t>El analista de costos y gastos necesita consolidar los gastos de producción y proponer el precio de venta de cada material editorial; hoy lo hace a mano en Excel, con demoras, riesgo de omisiones y sin trazabilidad.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0" y="1325880"/>
            <a:ext cx="5074920" cy="713232"/>
          </a:xfrm>
          <a:prstGeom prst="roundRect">
            <a:avLst>
              <a:gd name="adj" fmla="val 10256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65392" y="1536192"/>
            <a:ext cx="4754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Usuario principal: analista de costos y gastos de la editorial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2331720"/>
            <a:ext cx="5074920" cy="713232"/>
          </a:xfrm>
          <a:prstGeom prst="roundRect">
            <a:avLst>
              <a:gd name="adj" fmla="val 10256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65392" y="2542032"/>
            <a:ext cx="4754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Dolor actual: consolidar gastos a mano en Excel para calcular costo y precio es lento y con riesgo de omisiones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3337560"/>
            <a:ext cx="5074920" cy="713232"/>
          </a:xfrm>
          <a:prstGeom prst="roundRect">
            <a:avLst>
              <a:gd name="adj" fmla="val 10256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565392" y="3547872"/>
            <a:ext cx="4754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Evidencia: el PoC reproduce el flujo real con 4 proyectos y 20 gastos; hoy el cierre depende de revisión contable manual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4343400"/>
            <a:ext cx="5074920" cy="713232"/>
          </a:xfrm>
          <a:prstGeom prst="roundRect">
            <a:avLst>
              <a:gd name="adj" fmla="val 10256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65392" y="4553712"/>
            <a:ext cx="4754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Consecuencia: precios tardíos o mal calculados, gastos omitidos y decisiones sin trazabilidad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5797296"/>
            <a:ext cx="10789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F6B76"/>
                </a:solidFill>
              </a:rPr>
              <a:t>El problema existe aunque la IA no exista: es un proceso contable manual, lento y con riesgo de error en cada cierre de costos.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Need 2/2 · Evidencia del problema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El cierre de costos se repite en cada proyecto editorial: el mismo proceso manual, el mismo riesgo.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02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F3A44"/>
                </a:solidFill>
              </a:rPr>
              <a:t>Evidencia del PoC: dataset de prueba con 4 proyectos editoriales y 20 gastos en MXN (9 tipos de gasto, 7 proveedores) que replica la fuente real; el sistema ya detecta registros inconsistentes en lugar de ocultarlos.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242316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50392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Situación actual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4840" y="242316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599432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</a:rPr>
              <a:t>Dolor observable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83880" y="242316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348472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</a:rPr>
              <a:t>Criterio de éxito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12724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F3A44"/>
                </a:solidFill>
              </a:rPr>
              <a:t>Los gastos se revisan en contabilidad y se consolidan a mano por proyecto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F3A44"/>
                </a:solidFill>
              </a:rPr>
              <a:t>Excel + revisión manual, sin registro del cálculo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312724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F3A44"/>
                </a:solidFill>
              </a:rPr>
              <a:t>El cálculo tarda demasiado y se pueden omitir gastos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F3A44"/>
                </a:solidFill>
              </a:rPr>
              <a:t>Ej.: proyecto 3232-0004 con cantidades inconsistentes entre registros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66760" y="311454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500" dirty="0" err="1">
                <a:solidFill>
                  <a:srgbClr val="2F3A44"/>
                </a:solidFill>
              </a:rPr>
              <a:t>Consolidar</a:t>
            </a:r>
            <a:r>
              <a:rPr lang="en-US" sz="1500" dirty="0">
                <a:solidFill>
                  <a:srgbClr val="2F3A44"/>
                </a:solidFill>
              </a:rPr>
              <a:t> gastos y proponer costo y precio en menos de 10 minutos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F3A44"/>
                </a:solidFill>
              </a:rPr>
              <a:t>Cada propuesta queda registrada en logs de inferencia (trazabilidad)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074920"/>
            <a:ext cx="10241280" cy="621792"/>
          </a:xfrm>
          <a:prstGeom prst="roundRect">
            <a:avLst>
              <a:gd name="adj" fmla="val 11765"/>
            </a:avLst>
          </a:prstGeom>
          <a:solidFill>
            <a:srgbClr val="EEF8F8"/>
          </a:solidFill>
          <a:ln w="6350">
            <a:solidFill>
              <a:srgbClr val="B6E3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060704" y="5202936"/>
            <a:ext cx="9948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07D7A"/>
                </a:solidFill>
              </a:rPr>
              <a:t>“Por eso este proyecto no busca usar IA en abstracto; busca reducir el cálculo manual y los errores de costeo que hoy sufre el analista de costos y gastos”.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Approach 1/2 · Enfoque de solución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El sistema responde directamente a la necesidad: consolidar gastos y proponer precio con evidencia.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03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481328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D7A"/>
                </a:solidFill>
              </a:rPr>
              <a:t>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298448" y="1591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A43"/>
                </a:solidFill>
              </a:rPr>
              <a:t>Enfoque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2331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F3A44"/>
                </a:solidFill>
              </a:rPr>
              <a:t>Nuestra solución es el Agente de Costos Editoriales, un agente conversacional que permite al analista de costos consultar los gastos de producción y calcular costo propuesto y precio de venta, usando Gemini 2.5 Flash + LangChain con tools MCP sobre SQLite, y entregando una propuesta JSON trazable con score de confianza.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0" y="1325880"/>
            <a:ext cx="4663440" cy="3749040"/>
          </a:xfrm>
          <a:prstGeom prst="roundRect">
            <a:avLst>
              <a:gd name="adj" fmla="val 195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784848" y="16184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A43"/>
                </a:solidFill>
              </a:rPr>
              <a:t>Decisiones de diseño del PoC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12280" y="2139696"/>
            <a:ext cx="4069080" cy="1920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F3A44"/>
                </a:solidFill>
              </a:rPr>
              <a:t>Modelo usado: Google Gemini 2.5 Flash (LangChain create_agent)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F3A44"/>
                </a:solidFill>
              </a:rPr>
              <a:t>Capacidades: 13 tools de negocio vía MCP sobre SQLite (sin SQL libre)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F3A44"/>
                </a:solidFill>
              </a:rPr>
              <a:t>Interfaz: notebook con playground interactivo (conversacional)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F3A44"/>
                </a:solidFill>
              </a:rPr>
              <a:t>Salida: propuesta de costo y precio con score y campos de baja confianza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F3A44"/>
                </a:solidFill>
              </a:rPr>
              <a:t>Política de incertidumbre: nunca inventa; deja null y reporta el campo dudoso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94360" y="5797296"/>
            <a:ext cx="10789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F6B76"/>
                </a:solidFill>
              </a:rPr>
              <a:t>Qué no hace: no ejecuta SQL libre, no modifica datos y no fija el precio final; la decisión queda en el analista.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Approach 2/2 · Arquitectura y procesamiento de datos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Flujo completo: pregunta en lenguaje natural → agente → tool MCP → SQLite → respuesta con evidencia.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04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pic>
        <p:nvPicPr>
          <p:cNvPr id="7" name="Image 0" descr="/mnt/data/a_clean_modern_isometric_3d_layered_infographic_batch_3.png"/>
          <p:cNvPicPr>
            <a:picLocks noChangeAspect="1"/>
          </p:cNvPicPr>
          <p:nvPr/>
        </p:nvPicPr>
        <p:blipFill>
          <a:blip r:embed="rId3"/>
          <a:srcRect t="4047" b="4047"/>
          <a:stretch/>
        </p:blipFill>
        <p:spPr>
          <a:xfrm>
            <a:off x="594360" y="1517904"/>
            <a:ext cx="5303520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63640" y="1481328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46520" y="1691640"/>
            <a:ext cx="498348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Fuente de verdad: CSV de gastos cargado en SQLite (tabla + vista consolidada)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2258568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6446520" y="2468880"/>
            <a:ext cx="498348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Procesamiento: carga idempotente, validación de tipos e índices por proyecto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3035808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6446520" y="3246120"/>
            <a:ext cx="498348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Tools / MCP: 13 tools de solo lectura; el cálculo escribe logs de inferencia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63640" y="3813048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46520" y="4023360"/>
            <a:ext cx="498348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Agente: system prompt con reglas de negocio, margen 35% y “nunca inventar”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63640" y="4590288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6446520" y="4800600"/>
            <a:ext cx="498348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F3A44"/>
                </a:solidFill>
              </a:rPr>
              <a:t>Interfaz: notebook + playground; observabilidad con LangSmith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94360" y="5797296"/>
            <a:ext cx="10789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F6B76"/>
                </a:solidFill>
              </a:rPr>
              <a:t>Cada corrida deja rastro: la propuesta se guarda en logs_inferencia (id, timestamp, score, latencia) y la traza completa de la ejecución queda en LangSmith.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Benefit · Valor relativo al esfuerzo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Qué mejora y a qué costo, dentro del alcance del PoC.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05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481328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D7A"/>
                </a:solidFill>
              </a:rPr>
              <a:t>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298448" y="15910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A43"/>
                </a:solidFill>
              </a:rPr>
              <a:t>Beneficio / costo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239572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F3A44"/>
                </a:solidFill>
              </a:rPr>
              <a:t>Observado en el PoC: la propuesta de costo y precio se genera en segundos y queda registrada en logs de inferencia. Hipótesis por validar: reducción del ciclo frente a la línea base manual y tasa de aceptación del precio sugerido por el analista.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77240" y="32461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26280" y="32461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8275320" y="32461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60120" y="35021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55A"/>
                </a:solidFill>
              </a:rPr>
              <a:t>Valor esperado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87552" y="3931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F3A44"/>
                </a:solidFill>
              </a:rPr>
              <a:t>Costo y precio sugerido en segundos, sin omisiones y con trazabilidad completa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35021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53030"/>
                </a:solidFill>
              </a:rPr>
              <a:t>Costo / esfuerzo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36592" y="3931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F3A44"/>
                </a:solidFill>
              </a:rPr>
              <a:t>API de Gemini, mantener el dataset vigente y validación humana del precio final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58200" y="35021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7D7A"/>
                </a:solidFill>
              </a:rPr>
              <a:t>Relación final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85632" y="3931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F3A44"/>
                </a:solidFill>
              </a:rPr>
              <a:t>Horas de consolidación manual se convierten en una consulta; el costo de operación es marginal frente al retrabajo evitado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797296"/>
            <a:ext cx="10789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5F6B76"/>
                </a:solidFill>
              </a:rPr>
              <a:t>Métrica preliminar: el ciclo pasa de horas de consolidación manual a una consulta en segundos; cada cálculo registra su latencia y score en logs_inferencia.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Competence · Ventaja y credibilidad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896112"/>
            <a:ext cx="1828800" cy="0"/>
          </a:xfrm>
          <a:prstGeom prst="line">
            <a:avLst/>
          </a:prstGeom>
          <a:noFill/>
          <a:ln w="25400">
            <a:solidFill>
              <a:srgbClr val="007D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5F6B76"/>
                </a:solidFill>
              </a:rPr>
              <a:t>Por qué este enfoque es defendible frente a la alternativa manual.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06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3919E"/>
                </a:solidFill>
              </a:rPr>
              <a:t>AI Project · Presentación final de Proyecto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481328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7D7A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298448" y="1591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A43"/>
                </a:solidFill>
              </a:rPr>
              <a:t>Competencia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23317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F3A44"/>
                </a:solidFill>
              </a:rPr>
              <a:t>El equipo domina el caso y sabe ejecutar: fichas de caso de uso, arquitectura y ETL completadas; PoC reproducible con README, servidor MCP con 13 tools de negocio, pruebas de caso feliz, límite y fuera de alcance, y trazas en LangSmith.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92240" y="132588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675120" y="1627632"/>
            <a:ext cx="4526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F3A44"/>
                </a:solidFill>
              </a:rPr>
              <a:t>Alternativa 1: consolidación manual en Excel con revisión contable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675120" y="2816352"/>
            <a:ext cx="4526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F3A44"/>
                </a:solidFill>
              </a:rPr>
              <a:t>Ventaja del proyecto: respuesta inmediata, trazable y con reglas de negocio explícitas por tool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92240" y="37033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889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4005072"/>
            <a:ext cx="4526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F3A44"/>
                </a:solidFill>
              </a:rPr>
              <a:t>Limitación reconocida: datos de prueba, margen fijo (35%) y precio que aún requiere validación humana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4892040"/>
            <a:ext cx="10515600" cy="594360"/>
          </a:xfrm>
          <a:prstGeom prst="roundRect">
            <a:avLst>
              <a:gd name="adj" fmla="val 12308"/>
            </a:avLst>
          </a:prstGeom>
          <a:solidFill>
            <a:srgbClr val="EEF8F8"/>
          </a:solidFill>
          <a:ln w="6350">
            <a:solidFill>
              <a:srgbClr val="B6E3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23544" y="5020056"/>
            <a:ext cx="102229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07D7A"/>
                </a:solidFill>
              </a:rPr>
              <a:t>Los límites están controlados: la política de incertidumbre reporta los campos dudosos y toda propuesta queda auditada en los logs de inferencia.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81A2A"/>
          </a:solidFill>
          <a:ln w="12700">
            <a:solidFill>
              <a:srgbClr val="081A2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" name="Image 0" descr="/mnt/data/a_wide_high_resolution_modern_tech_presentation_batch_1.png"/>
          <p:cNvPicPr>
            <a:picLocks noChangeAspect="1"/>
          </p:cNvPicPr>
          <p:nvPr/>
        </p:nvPicPr>
        <p:blipFill>
          <a:blip r:embed="rId3"/>
          <a:srcRect l="25687" r="25687"/>
          <a:stretch/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143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Introducción al demo funcional</a:t>
            </a:r>
          </a:p>
        </p:txBody>
      </p:sp>
      <p:sp>
        <p:nvSpPr>
          <p:cNvPr id="5" name="Text 2"/>
          <p:cNvSpPr/>
          <p:nvPr/>
        </p:nvSpPr>
        <p:spPr>
          <a:xfrm>
            <a:off x="804672" y="1938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7F7FF"/>
                </a:solidFill>
              </a:rPr>
              <a:t>Vamos a demostrar: el cálculo de costo y precio sugerido de un proyecto editorial, de punta a punta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22960" y="2944368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Criterios que observará la audiencia: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[1] Usa la tool MCP correcta según la pregunta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[2] Responde con datos reales de SQLite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[3] Reconoce límites sin inventar (proyecto inexistente o inconsistente)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[4] El analista lo opera en lenguaje natural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5166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B8D4"/>
                </a:solidFill>
              </a:rPr>
              <a:t>Demo en vivo en el notebook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292840" y="64465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1702</Words>
  <Application>Microsoft Macintosh PowerPoint</Application>
  <PresentationFormat>Panorámica</PresentationFormat>
  <Paragraphs>109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AI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Final de Proyecto · NABC + Demo</dc:title>
  <dc:subject>Template presentación final proyecto con NABC y demo funcional</dc:subject>
  <dc:creator>AI Project</dc:creator>
  <cp:lastModifiedBy>Ismael Flamenco</cp:lastModifiedBy>
  <cp:revision>3</cp:revision>
  <dcterms:created xsi:type="dcterms:W3CDTF">2026-07-02T14:36:11Z</dcterms:created>
  <dcterms:modified xsi:type="dcterms:W3CDTF">2026-07-10T02:35:34Z</dcterms:modified>
</cp:coreProperties>
</file>