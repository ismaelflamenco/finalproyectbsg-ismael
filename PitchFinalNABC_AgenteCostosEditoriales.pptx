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2" r:id="rId6"/>
    <p:sldId id="264" r:id="rId7"/>
    <p:sldId id="265" r:id="rId8"/>
    <p:sldId id="268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016"/>
    <p:restoredTop sz="94610"/>
  </p:normalViewPr>
  <p:slideViewPr>
    <p:cSldViewPr snapToGrid="0" snapToObjects="1">
      <p:cViewPr varScale="1">
        <p:scale>
          <a:sx n="46" d="100"/>
          <a:sy n="46" d="100"/>
        </p:scale>
        <p:origin x="168" y="2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820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Apertura (15 s): “Hoy, el analista de costos y gastos de la editorial consolida a mano los gastos de cada proyecto para poder fijar el precio de un libro. Ese proceso es lento y puede omitir gastos. Construimos un agente que lo hace en segundos, con evidencia y trazabilidad.”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Need (35 s): Describir el proceso actual: al cierre del registro de costos, contabilidad revisa los gastos y el analista los consolida en Excel. No se trata solo de lentitud: se trata de riesgo de omitir gastos y de no poder auditar cómo se llegó al precio. El problema existe aunque la IA no exista.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Need – evidencia (30 s): Mostrar el alcance del PoC: 4 proyectos editoriales y 20 gastos de prueba que replican la estructura real (tipo de gasto, proveedor, moneda). Señalar el caso 3232-0004: tiene cantidades inconsistentes y el sistema lo detecta en lugar de ocultarlo. Criterio de éxito: consolidar y proponer costo/precio en menos de 10 minutos, con registro trazable.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Approach (40 s): “El analista hace una pregunta en lenguaje natural. El agente (Gemini 2.5 Flash orquestado con LangChain) interpreta la intención y elige una de las 13 tools MCP; cada tool es una pregunta de negocio concreta sobre SQLite, no SQL libre. La respuesta llega con costo propuesto, precio sugerido con margen del 35%, score de confianza y campos dudosos. Si no hay evidencia, el agente lo dice; no inventa.”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Approach – arquitectura (45 s): Recorrer el flujo: CSV → SQLite (tabla gastos_proyecto + vista consolidada e índices) → servidor MCP local (FastMCP) que publica 13 tools de solo lectura → agente LangChain con system prompt y reglas → notebook/playground. Cada cálculo escribe en logs_inferencia (id, timestamp, propuesta, score, latencia) y las corridas quedan trazadas en LangSmith.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Benefits per Costs (45 s): Beneficio observado: la propuesta de costo y precio se obtiene en segundos y queda registrada. Costo reconocido: consumo de API, mantener la fuente de datos vigente y validación humana del precio final. Hipótesis a validar en la siguiente etapa: medir línea base del proceso manual vs. tiempo con el agente, y tasa de aceptación del precio sugerido.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Competence (35 s): Frente a la alternativa (Excel + revisión manual), el agente responde al momento y deja evidencia. Reconocemos límites: dataset ficticio, margen fijo del 35% y decisión final humana. No afirmamos tener un producto en producción: demostramos una capacidad funcional, acotada y trazable, con un plan claro para validar con datos reales.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(1:30–2:00): Caso feliz: “Calcula el costo y precio del proyecto 3232-0001” → el agente usa calcular_propuesta_costo_precio y devuelve propuesta con score alta. Caso límite: proyecto 3232-0004 → detecta cantidades inconsistentes y baja la confianza. Fuera de alcance: preguntar por un proyecto inexistente → responde que no lo encontró, sin inventar. Cierre: el flujo demuestra valor, trazabilidad y límites; siguiente paso, validar con datos reales y una interfaz Streamlit.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high_resolution_modern_tech_presentation_batch_1.png"/>
          <p:cNvPicPr>
            <a:picLocks noChangeAspect="1"/>
          </p:cNvPicPr>
          <p:nvPr/>
        </p:nvPicPr>
        <p:blipFill>
          <a:blip r:embed="rId3"/>
          <a:srcRect l="26625" r="26625"/>
          <a:stretch/>
        </p:blipFill>
        <p:spPr>
          <a:xfrm>
            <a:off x="6492240" y="0"/>
            <a:ext cx="56967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5508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594360" y="1170432"/>
            <a:ext cx="5303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2A43"/>
                </a:solidFill>
              </a:rPr>
              <a:t>Pitch Final de Proyecto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94360" y="1847088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7D7A"/>
                </a:solidFill>
              </a:rPr>
              <a:t>Template NABC + Demo funcional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1792" y="2779776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F3A44"/>
                </a:solidFill>
              </a:rPr>
              <a:t>Agente Inteligente de Costos y Precios Editoriales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F3A44"/>
                </a:solidFill>
              </a:rPr>
              <a:t>Ismael Flamenco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F3A44"/>
                </a:solidFill>
              </a:rPr>
              <a:t>AI Project · Julio 2026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94360" y="4828032"/>
            <a:ext cx="4983480" cy="640080"/>
          </a:xfrm>
          <a:prstGeom prst="roundRect">
            <a:avLst>
              <a:gd name="adj" fmla="val 11429"/>
            </a:avLst>
          </a:prstGeom>
          <a:solidFill>
            <a:srgbClr val="EEF8F8"/>
          </a:solidFill>
          <a:ln w="6350">
            <a:solidFill>
              <a:srgbClr val="B6E3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5"/>
          <p:cNvSpPr/>
          <p:nvPr/>
        </p:nvSpPr>
        <p:spPr>
          <a:xfrm>
            <a:off x="740664" y="4956048"/>
            <a:ext cx="4690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7D7A"/>
                </a:solidFill>
              </a:rPr>
              <a:t>Objetivo: convencer con problema, solución, evidencia y demostración operativa.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19E"/>
                </a:solidFill>
              </a:rPr>
              <a:t>AI Project · Presentación final de Proyecto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F6B76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Need 1/2 · Necesidad que justifica el proyecto</a:t>
            </a:r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828800" cy="0"/>
          </a:xfrm>
          <a:prstGeom prst="line">
            <a:avLst/>
          </a:prstGeom>
          <a:noFill/>
          <a:ln w="25400">
            <a:solidFill>
              <a:srgbClr val="007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5F6B76"/>
                </a:solidFill>
              </a:rPr>
              <a:t>Definan el problema antes de hablar del modelo, la app o la arquitectura.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01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19E"/>
                </a:solidFill>
              </a:rPr>
              <a:t>AI Project · Presentación final de Proyecto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132588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D7A"/>
                </a:solidFill>
              </a:rPr>
              <a:t>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325880" y="14264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</a:rPr>
              <a:t>Necesidad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1975104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F3A44"/>
                </a:solidFill>
              </a:rPr>
              <a:t>Completen con una formulación estricta: usuario afectado, tarea crítica, fricción actual, costo de no resolverlo y evidencia que respalda el problema.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0" y="132588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565392" y="1536192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3A44"/>
                </a:solidFill>
              </a:rPr>
              <a:t>Usuario principal: analista de costos y gastos de la editorial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0" y="233172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65392" y="2542032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3A44"/>
                </a:solidFill>
              </a:rPr>
              <a:t>Dolor actual: consolidar gastos a mano en Excel para calcular costo y precio es lento y con riesgo de omisiones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333756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565392" y="3547872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3A44"/>
                </a:solidFill>
              </a:rPr>
              <a:t>Evidencia: el PoC reproduce el flujo real con 4 proyectos y 20 gastos; hoy el cierre depende de revisión contable manual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0" y="4343400"/>
            <a:ext cx="5074920" cy="713232"/>
          </a:xfrm>
          <a:prstGeom prst="roundRect">
            <a:avLst>
              <a:gd name="adj" fmla="val 10256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565392" y="4553712"/>
            <a:ext cx="4754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3A44"/>
                </a:solidFill>
              </a:rPr>
              <a:t>Consecuencia: precios tardíos o mal calculados, gastos omitidos y decisiones sin trazabilidad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" y="5797296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6"/>
                </a:solidFill>
              </a:rPr>
              <a:t>Eviten comenzar con “hicimos un chatbot”. El problema debe existir aunque la IA no exista.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Need 2/2 · Evidencia del problema</a:t>
            </a:r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828800" cy="0"/>
          </a:xfrm>
          <a:prstGeom prst="line">
            <a:avLst/>
          </a:prstGeom>
          <a:noFill/>
          <a:ln w="25400">
            <a:solidFill>
              <a:srgbClr val="007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5F6B76"/>
                </a:solidFill>
              </a:rPr>
              <a:t>Muestren por qué vale la pena resolverlo ahora.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02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19E"/>
                </a:solidFill>
              </a:rPr>
              <a:t>AI Project · Presentación final de Proyecto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F3A44"/>
                </a:solidFill>
              </a:rPr>
              <a:t>Incluyan una evidencia mínima. Puede ser una medición del proceso, un ejemplo de usuario, una tasa de error, una demora promedio o un caso de decisión donde hoy falta información.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3154680" cy="1965960"/>
          </a:xfrm>
          <a:prstGeom prst="roundRect">
            <a:avLst>
              <a:gd name="adj" fmla="val 3721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50392" y="2651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Situación actual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34840" y="2423160"/>
            <a:ext cx="3154680" cy="1965960"/>
          </a:xfrm>
          <a:prstGeom prst="roundRect">
            <a:avLst>
              <a:gd name="adj" fmla="val 3721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599432" y="2651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Dolor observable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83880" y="2423160"/>
            <a:ext cx="3154680" cy="1965960"/>
          </a:xfrm>
          <a:prstGeom prst="roundRect">
            <a:avLst>
              <a:gd name="adj" fmla="val 3721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348472" y="265176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</a:rPr>
              <a:t>Criterio de éxito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12724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F3A44"/>
                </a:solidFill>
              </a:rPr>
              <a:t>Los gastos se revisan en contabilidad y se consolidan a mano por proyecto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3A44"/>
                </a:solidFill>
              </a:rPr>
              <a:t>Excel + revisión manual, sin registro del cálculo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12724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F3A44"/>
                </a:solidFill>
              </a:rPr>
              <a:t>El cálculo tarda demasiado y se pueden omitir gastos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3A44"/>
                </a:solidFill>
              </a:rPr>
              <a:t>Ej.: proyecto 3232-0004 con cantidades inconsistentes entre registros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3127248"/>
            <a:ext cx="2788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2F3A44"/>
                </a:solidFill>
              </a:rPr>
              <a:t>Consolidar gastos y proponer costo y precio en menos de 10 minutos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F3A44"/>
                </a:solidFill>
              </a:rPr>
              <a:t>Cada propuesta queda registrada en logs de inferencia (trazabilidad)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5074920"/>
            <a:ext cx="10241280" cy="621792"/>
          </a:xfrm>
          <a:prstGeom prst="roundRect">
            <a:avLst>
              <a:gd name="adj" fmla="val 11765"/>
            </a:avLst>
          </a:prstGeom>
          <a:solidFill>
            <a:srgbClr val="EEF8F8"/>
          </a:solidFill>
          <a:ln w="6350">
            <a:solidFill>
              <a:srgbClr val="B6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1060704" y="5202936"/>
            <a:ext cx="9948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7D7A"/>
                </a:solidFill>
              </a:rPr>
              <a:t>Frase de cierre: “Por eso este proyecto no busca usar IA en abstracto; busca reducir el cálculo manual y los errores de costeo que hoy sufre el analista de costos y gastos”.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Approach 1/2 · Enfoque de solución</a:t>
            </a:r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828800" cy="0"/>
          </a:xfrm>
          <a:prstGeom prst="line">
            <a:avLst/>
          </a:prstGeom>
          <a:noFill/>
          <a:ln w="25400">
            <a:solidFill>
              <a:srgbClr val="007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5F6B76"/>
                </a:solidFill>
              </a:rPr>
              <a:t>Presenten el sistema como una respuesta directa a la necesidad.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03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19E"/>
                </a:solidFill>
              </a:rPr>
              <a:t>AI Project · Presentación final de Proyecto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D7A"/>
                </a:solidFill>
              </a:rPr>
              <a:t>A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298448" y="15910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</a:rPr>
              <a:t>Enfoque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23317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F3A44"/>
                </a:solidFill>
              </a:rPr>
              <a:t>Nuestra solución es el Agente de Costos Editoriales, un agente conversacional que permite al analista de costos consultar los gastos de producción y calcular costo propuesto y precio de venta, usando Gemini 2.5 Flash + LangChain con tools MCP sobre SQLite, y entregando una propuesta JSON trazable con score de confianza.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583680" y="1325880"/>
            <a:ext cx="4663440" cy="3749040"/>
          </a:xfrm>
          <a:prstGeom prst="roundRect">
            <a:avLst>
              <a:gd name="adj" fmla="val 1951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784848" y="16184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A43"/>
                </a:solidFill>
              </a:rPr>
              <a:t>Decisiones que deben quedar explícitas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12280" y="2139696"/>
            <a:ext cx="406908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2F3A44"/>
                </a:solidFill>
              </a:rPr>
              <a:t>Modelo usado: Google Gemini 2.5 Flash (LangChain create_agent)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F3A44"/>
                </a:solidFill>
              </a:rPr>
              <a:t>Capacidades: 13 tools de negocio vía MCP sobre SQLite (sin SQL libre)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F3A44"/>
                </a:solidFill>
              </a:rPr>
              <a:t>Interfaz: notebook con playground interactivo (conversacional)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F3A44"/>
                </a:solidFill>
              </a:rPr>
              <a:t>Salida: propuesta de costo y precio con score y campos de baja confianza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F3A44"/>
                </a:solidFill>
              </a:rPr>
              <a:t>Política de incertidumbre: nunca inventa; deja null y reporta el campo dudoso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94360" y="5797296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6"/>
                </a:solidFill>
              </a:rPr>
              <a:t>La audiencia debe entender qué hace el sistema y qué no hace, sin entrar todavía en todos los detalles del código.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Approach 2/2 · Arquitectura y procesamiento de datos</a:t>
            </a:r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828800" cy="0"/>
          </a:xfrm>
          <a:prstGeom prst="line">
            <a:avLst/>
          </a:prstGeom>
          <a:noFill/>
          <a:ln w="25400">
            <a:solidFill>
              <a:srgbClr val="007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5F6B76"/>
                </a:solidFill>
              </a:rPr>
              <a:t>La arquitectura convierte las decisiones del caso de uso en un producto ejecutable.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04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19E"/>
                </a:solidFill>
              </a:rPr>
              <a:t>AI Project · Presentación final de Proyecto</a:t>
            </a:r>
            <a:endParaRPr lang="en-US" sz="750" dirty="0"/>
          </a:p>
        </p:txBody>
      </p:sp>
      <p:pic>
        <p:nvPicPr>
          <p:cNvPr id="7" name="Image 0" descr="/mnt/data/a_clean_modern_isometric_3d_layered_infographic_batch_3.png"/>
          <p:cNvPicPr>
            <a:picLocks noChangeAspect="1"/>
          </p:cNvPicPr>
          <p:nvPr/>
        </p:nvPicPr>
        <p:blipFill>
          <a:blip r:embed="rId3"/>
          <a:srcRect t="4047" b="4047"/>
          <a:stretch/>
        </p:blipFill>
        <p:spPr>
          <a:xfrm>
            <a:off x="594360" y="1517904"/>
            <a:ext cx="5303520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63640" y="1481328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6"/>
          <p:cNvSpPr/>
          <p:nvPr/>
        </p:nvSpPr>
        <p:spPr>
          <a:xfrm>
            <a:off x="6446520" y="1691640"/>
            <a:ext cx="49834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3A44"/>
                </a:solidFill>
              </a:rPr>
              <a:t>Fuente de verdad: CSV de gastos cargado en SQLite (tabla + vista consolidada)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2258568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446520" y="2468880"/>
            <a:ext cx="49834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3A44"/>
                </a:solidFill>
              </a:rPr>
              <a:t>Procesamiento: carga idempotente, validación de tipos e índices por proyecto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3035808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6446520" y="3246120"/>
            <a:ext cx="49834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3A44"/>
                </a:solidFill>
              </a:rPr>
              <a:t>Tools / MCP: 13 tools de solo lectura; el cálculo escribe logs de inferencia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263640" y="3813048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6446520" y="4023360"/>
            <a:ext cx="49834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3A44"/>
                </a:solidFill>
              </a:rPr>
              <a:t>Agente: system prompt con reglas de negocio, margen 35% y “nunca inventar”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63640" y="4590288"/>
            <a:ext cx="5349240" cy="640080"/>
          </a:xfrm>
          <a:prstGeom prst="roundRect">
            <a:avLst>
              <a:gd name="adj" fmla="val 11429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6446520" y="4800600"/>
            <a:ext cx="49834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2F3A44"/>
                </a:solidFill>
              </a:rPr>
              <a:t>Interfaz: notebook + playground; observabilidad con LangSmith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4360" y="5797296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6"/>
                </a:solidFill>
              </a:rPr>
              <a:t>No basta con mostrar logos. Expliquen flujo: entrada del usuario → agente → tools → datos → respuesta con evidencia.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Benefit · Valor relativo al esfuerzo</a:t>
            </a:r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828800" cy="0"/>
          </a:xfrm>
          <a:prstGeom prst="line">
            <a:avLst/>
          </a:prstGeom>
          <a:noFill/>
          <a:ln w="25400">
            <a:solidFill>
              <a:srgbClr val="007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5F6B76"/>
                </a:solidFill>
              </a:rPr>
              <a:t>No presenten solo beneficios. Expliquen qué mejora y a qué costo.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05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19E"/>
                </a:solidFill>
              </a:rPr>
              <a:t>AI Project · Presentación final de Proyecto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D7A"/>
                </a:solidFill>
              </a:rPr>
              <a:t>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298448" y="15910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</a:rPr>
              <a:t>Beneficio / costo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239572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F3A44"/>
                </a:solidFill>
              </a:rPr>
              <a:t>El beneficio debe compararse contra el costo de implementación, mantenimiento, datos, uso del modelo y adopción del usuario. Una solución técnicamente sofisticada no es buena si el costo supera el valor demostrado.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32461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4526280" y="32461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8275320" y="324612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60120" y="35021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855A"/>
                </a:solidFill>
              </a:rPr>
              <a:t>Valor esperado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7552" y="3931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A44"/>
                </a:solidFill>
              </a:rPr>
              <a:t>Costo y precio sugerido en segundos, sin omisiones y con trazabilidad completa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09160" y="35021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53030"/>
                </a:solidFill>
              </a:rPr>
              <a:t>Costo / esfuerzo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36592" y="3931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A44"/>
                </a:solidFill>
              </a:rPr>
              <a:t>API de Gemini, mantener el dataset vigente y validación humana del precio final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58200" y="3502152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7D7A"/>
                </a:solidFill>
              </a:rPr>
              <a:t>Relación final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85632" y="3931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A44"/>
                </a:solidFill>
              </a:rPr>
              <a:t>Horas de consolidación manual se convierten en una consulta; el costo de operación es marginal frente al retrabajo evitado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5797296"/>
            <a:ext cx="10789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5F6B76"/>
                </a:solidFill>
              </a:rPr>
              <a:t>Incluyan una métrica aunque sea preliminar: antes/después, tiempo, precisión, cobertura, satisfacción o reducción de pasos.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Competence · Ventaja y credibilidad</a:t>
            </a:r>
          </a:p>
        </p:txBody>
      </p:sp>
      <p:sp>
        <p:nvSpPr>
          <p:cNvPr id="3" name="Shape 1"/>
          <p:cNvSpPr/>
          <p:nvPr/>
        </p:nvSpPr>
        <p:spPr>
          <a:xfrm>
            <a:off x="502920" y="896112"/>
            <a:ext cx="1828800" cy="0"/>
          </a:xfrm>
          <a:prstGeom prst="line">
            <a:avLst/>
          </a:prstGeom>
          <a:noFill/>
          <a:ln w="25400">
            <a:solidFill>
              <a:srgbClr val="007D7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5F6B76"/>
                </a:solidFill>
              </a:rPr>
              <a:t>Expliquen por qué esta solución puede competir con alternativas.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06</a:t>
            </a:r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3919E"/>
                </a:solidFill>
              </a:rPr>
              <a:t>AI Project · Presentación final de Proyecto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D7A"/>
                </a:solidFill>
              </a:rPr>
              <a:t>C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298448" y="15910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2A43"/>
                </a:solidFill>
              </a:rPr>
              <a:t>Competencia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233172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F3A44"/>
                </a:solidFill>
              </a:rPr>
              <a:t>Competence no significa “somos los mejores”. Significa que el equipo entiende el dominio, las alternativas y las restricciones, y puede justificar por qué su enfoque es defendible.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92240" y="132588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675120" y="1627632"/>
            <a:ext cx="4526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F3A44"/>
                </a:solidFill>
              </a:rPr>
              <a:t>Alternativa 1: consolidación manual en Excel con revisión contable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251460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675120" y="2816352"/>
            <a:ext cx="4526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F3A44"/>
                </a:solidFill>
              </a:rPr>
              <a:t>Ventaja del proyecto: respuesta inmediata, trazable y con reglas de negocio explícitas por tool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92240" y="370332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F6F8FB"/>
          </a:solidFill>
          <a:ln w="8890">
            <a:solidFill>
              <a:srgbClr val="D8E3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675120" y="4005072"/>
            <a:ext cx="45262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2F3A44"/>
                </a:solidFill>
              </a:rPr>
              <a:t>Limitación reconocida: datos de prueba, margen fijo (35%) y precio que aún requiere validación humana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4892040"/>
            <a:ext cx="10515600" cy="594360"/>
          </a:xfrm>
          <a:prstGeom prst="roundRect">
            <a:avLst>
              <a:gd name="adj" fmla="val 12308"/>
            </a:avLst>
          </a:prstGeom>
          <a:solidFill>
            <a:srgbClr val="EEF8F8"/>
          </a:solidFill>
          <a:ln w="6350">
            <a:solidFill>
              <a:srgbClr val="B6E3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23544" y="5020056"/>
            <a:ext cx="102229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7D7A"/>
                </a:solidFill>
              </a:rPr>
              <a:t>La credibilidad aumenta cuando reconocen límites y muestran cómo los controlan.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81A2A"/>
          </a:solidFill>
          <a:ln w="12700">
            <a:solidFill>
              <a:srgbClr val="081A2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" name="Image 0" descr="/mnt/data/a_wide_high_resolution_modern_tech_presentation_batch_1.png"/>
          <p:cNvPicPr>
            <a:picLocks noChangeAspect="1"/>
          </p:cNvPicPr>
          <p:nvPr/>
        </p:nvPicPr>
        <p:blipFill>
          <a:blip r:embed="rId3"/>
          <a:srcRect l="25687" r="25687"/>
          <a:stretch/>
        </p:blipFill>
        <p:spPr>
          <a:xfrm>
            <a:off x="6263640" y="0"/>
            <a:ext cx="5925312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14300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Introducción al demo funcional</a:t>
            </a:r>
          </a:p>
        </p:txBody>
      </p:sp>
      <p:sp>
        <p:nvSpPr>
          <p:cNvPr id="5" name="Text 2"/>
          <p:cNvSpPr/>
          <p:nvPr/>
        </p:nvSpPr>
        <p:spPr>
          <a:xfrm>
            <a:off x="804672" y="19385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D7F7FF"/>
                </a:solidFill>
              </a:rPr>
              <a:t>Vamos a demostrar: el cálculo de costo y precio sugerido de un proyecto editorial, de punta a punta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22960" y="2944368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Criterios que observará la audiencia: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[1] Usa la fuente correcta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[2] Responde con evidencia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[3] Reconoce límites sin inventar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[4] El usuario puede operar el sistema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5166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B8D4"/>
                </a:solidFill>
              </a:rPr>
              <a:t>Pausar presentación y abrir sistema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857</Words>
  <Application>Microsoft Macintosh PowerPoint</Application>
  <PresentationFormat>Panorámica</PresentationFormat>
  <Paragraphs>101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AI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Final de Proyecto · NABC + Demo</dc:title>
  <dc:subject>Template presentación final proyecto con NABC y demo funcional</dc:subject>
  <dc:creator>AI Project</dc:creator>
  <cp:lastModifiedBy>ignacio zambrano</cp:lastModifiedBy>
  <cp:revision>2</cp:revision>
  <dcterms:created xsi:type="dcterms:W3CDTF">2026-07-02T14:36:11Z</dcterms:created>
  <dcterms:modified xsi:type="dcterms:W3CDTF">2026-07-03T00:19:54Z</dcterms:modified>
</cp:coreProperties>
</file>